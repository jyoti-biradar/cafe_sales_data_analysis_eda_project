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ton" charset="1" panose="00000500000000000000"/>
      <p:regular r:id="rId19"/>
    </p:embeddedFont>
    <p:embeddedFont>
      <p:font typeface="Montserrat" charset="1" panose="00000500000000000000"/>
      <p:regular r:id="rId20"/>
    </p:embeddedFont>
    <p:embeddedFont>
      <p:font typeface="Montserrat Italics" charset="1" panose="00000500000000000000"/>
      <p:regular r:id="rId21"/>
    </p:embeddedFont>
    <p:embeddedFont>
      <p:font typeface="Montserrat Bold" charset="1" panose="00000800000000000000"/>
      <p:regular r:id="rId22"/>
    </p:embeddedFont>
    <p:embeddedFont>
      <p:font typeface="Lato Bold Italics" charset="1" panose="020F0502020204030203"/>
      <p:regular r:id="rId23"/>
    </p:embeddedFont>
    <p:embeddedFont>
      <p:font typeface="Lato" charset="1" panose="020F0502020204030203"/>
      <p:regular r:id="rId24"/>
    </p:embeddedFont>
    <p:embeddedFont>
      <p:font typeface="Canva Sans Bold" charset="1" panose="020B0803030501040103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Canva Sans" charset="1" panose="020B0503030501040103"/>
      <p:regular r:id="rId28"/>
    </p:embeddedFont>
    <p:embeddedFont>
      <p:font typeface="Bukhari Script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4613" y="63066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855" y="382565"/>
            <a:ext cx="10437131" cy="427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76"/>
              </a:lnSpc>
            </a:pPr>
            <a:r>
              <a:rPr lang="en-US" sz="11076" spc="16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DATA</a:t>
            </a:r>
          </a:p>
          <a:p>
            <a:pPr algn="l">
              <a:lnSpc>
                <a:spcPts val="11076"/>
              </a:lnSpc>
            </a:pPr>
            <a:r>
              <a:rPr lang="en-US" sz="11076" spc="16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       ANALYST </a:t>
            </a:r>
          </a:p>
          <a:p>
            <a:pPr algn="l">
              <a:lnSpc>
                <a:spcPts val="11076"/>
              </a:lnSpc>
            </a:pPr>
            <a:r>
              <a:rPr lang="en-US" sz="11076" spc="16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                PROJECT       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29" y="8947021"/>
            <a:ext cx="4045791" cy="32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sz="1928" spc="-9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jyotibiradar3266@gmail.com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44596" y="4617839"/>
            <a:ext cx="3867235" cy="40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99"/>
              </a:lnSpc>
              <a:spcBef>
                <a:spcPct val="0"/>
              </a:spcBef>
            </a:pPr>
            <a:r>
              <a:rPr lang="en-US" sz="2428" i="true" spc="-121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Turning Data Into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529" y="8471451"/>
            <a:ext cx="4045791" cy="65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928" spc="-9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Presented by: Jyoti Biradar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-1952913">
            <a:off x="13346833" y="4902395"/>
            <a:ext cx="5803657" cy="6558986"/>
            <a:chOff x="0" y="0"/>
            <a:chExt cx="864384" cy="9768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0" y="5245867"/>
            <a:ext cx="8156223" cy="49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7"/>
              </a:lnSpc>
              <a:spcBef>
                <a:spcPct val="0"/>
              </a:spcBef>
            </a:pPr>
            <a:r>
              <a:rPr lang="en-US" b="true" sz="2998" spc="-149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Name :-   Cafe Sales Data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37544" y="5945144"/>
            <a:ext cx="11001296" cy="112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252" i="true" b="true">
                <a:solidFill>
                  <a:srgbClr val="E5E1DA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----&gt; Exploratory Data Analysis(EDA) using Python</a:t>
            </a:r>
          </a:p>
          <a:p>
            <a:pPr algn="l">
              <a:lnSpc>
                <a:spcPts val="455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388208" y="6738235"/>
            <a:ext cx="6598254" cy="88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Pandas • NumPy • Matplotlib • Seaborn</a:t>
            </a:r>
          </a:p>
          <a:p>
            <a:pPr algn="l">
              <a:lnSpc>
                <a:spcPts val="354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84461" y="9014214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7" y="0"/>
                </a:lnTo>
                <a:lnTo>
                  <a:pt x="19157227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999" r="0" b="-13999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952913">
            <a:off x="13030408" y="5198791"/>
            <a:ext cx="5803657" cy="6558986"/>
            <a:chOff x="0" y="0"/>
            <a:chExt cx="864384" cy="97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82213" y="64590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8442" y="379973"/>
            <a:ext cx="5593675" cy="86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1"/>
              </a:lnSpc>
              <a:spcBef>
                <a:spcPct val="0"/>
              </a:spcBef>
            </a:pPr>
            <a:r>
              <a:rPr lang="en-US" b="true" sz="5015" spc="-2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 :-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82213" y="1957560"/>
            <a:ext cx="15523649" cy="48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5"/>
              </a:lnSpc>
              <a:spcBef>
                <a:spcPct val="0"/>
              </a:spcBef>
            </a:pPr>
            <a:r>
              <a:rPr lang="en-US" sz="2889" spc="-1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</a:t>
            </a:r>
            <a:r>
              <a:rPr lang="en-US" sz="2889" spc="-1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rstanding cafe sales patterns and generating useful business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8442" y="3154582"/>
            <a:ext cx="16646962" cy="330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809" indent="-407904" lvl="1">
              <a:lnSpc>
                <a:spcPts val="5290"/>
              </a:lnSpc>
              <a:buFont typeface="Arial"/>
              <a:buChar char="•"/>
            </a:pPr>
            <a:r>
              <a:rPr lang="en-US" sz="3778" spc="-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Clean and prepare transaction-level cafe sales data.</a:t>
            </a:r>
          </a:p>
          <a:p>
            <a:pPr algn="l" marL="815809" indent="-407904" lvl="1">
              <a:lnSpc>
                <a:spcPts val="5290"/>
              </a:lnSpc>
              <a:buFont typeface="Arial"/>
              <a:buChar char="•"/>
            </a:pPr>
            <a:r>
              <a:rPr lang="en-US" sz="3778" spc="-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Explore categorical and numerical variables using EDA.</a:t>
            </a:r>
          </a:p>
          <a:p>
            <a:pPr algn="l" marL="815809" indent="-407904" lvl="1">
              <a:lnSpc>
                <a:spcPts val="5290"/>
              </a:lnSpc>
              <a:buFont typeface="Arial"/>
              <a:buChar char="•"/>
            </a:pPr>
            <a:r>
              <a:rPr lang="en-US" sz="3778" spc="-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Analyze product, payment method, location, and monthly sales patterns.</a:t>
            </a:r>
          </a:p>
          <a:p>
            <a:pPr algn="l" marL="815809" indent="-407904" lvl="1">
              <a:lnSpc>
                <a:spcPts val="5290"/>
              </a:lnSpc>
              <a:buFont typeface="Arial"/>
              <a:buChar char="•"/>
            </a:pPr>
            <a:r>
              <a:rPr lang="en-US" sz="3778" spc="-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Study relationships between Quantity, Price Per Unit, and Total Spent.</a:t>
            </a:r>
          </a:p>
          <a:p>
            <a:pPr algn="l" marL="815809" indent="-407904" lvl="1">
              <a:lnSpc>
                <a:spcPts val="5290"/>
              </a:lnSpc>
              <a:spcBef>
                <a:spcPct val="0"/>
              </a:spcBef>
              <a:buFont typeface="Arial"/>
              <a:buChar char="•"/>
            </a:pPr>
            <a:r>
              <a:rPr lang="en-US" sz="3778" spc="-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 findings that can support data-driven business decisions.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1189" y="4424740"/>
            <a:ext cx="3862083" cy="3951299"/>
            <a:chOff x="0" y="0"/>
            <a:chExt cx="1017199" cy="1040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199" cy="1040725"/>
            </a:xfrm>
            <a:custGeom>
              <a:avLst/>
              <a:gdLst/>
              <a:ahLst/>
              <a:cxnLst/>
              <a:rect r="r" b="b" t="t" l="l"/>
              <a:pathLst>
                <a:path h="1040725" w="1017199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1F3F3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48862" y="4424740"/>
            <a:ext cx="3862083" cy="3951299"/>
            <a:chOff x="0" y="0"/>
            <a:chExt cx="1017199" cy="1040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7199" cy="1040725"/>
            </a:xfrm>
            <a:custGeom>
              <a:avLst/>
              <a:gdLst/>
              <a:ahLst/>
              <a:cxnLst/>
              <a:rect r="r" b="b" t="t" l="l"/>
              <a:pathLst>
                <a:path h="1040725" w="1017199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1F3F3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53590" y="6801780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308800" y="6763680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43987" y="4897670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7" y="0"/>
                </a:lnTo>
                <a:lnTo>
                  <a:pt x="996487" y="996487"/>
                </a:lnTo>
                <a:lnTo>
                  <a:pt x="0" y="996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81661" y="4897670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7"/>
                </a:lnTo>
                <a:lnTo>
                  <a:pt x="0" y="996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637275" y="4416189"/>
            <a:ext cx="3862083" cy="3951299"/>
            <a:chOff x="0" y="0"/>
            <a:chExt cx="1017199" cy="1040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7199" cy="1040725"/>
            </a:xfrm>
            <a:custGeom>
              <a:avLst/>
              <a:gdLst/>
              <a:ahLst/>
              <a:cxnLst/>
              <a:rect r="r" b="b" t="t" l="l"/>
              <a:pathLst>
                <a:path h="1040725" w="1017199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1F3F3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021843" y="6811305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907827" y="4897670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7"/>
                </a:lnTo>
                <a:lnTo>
                  <a:pt x="0" y="996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7920" y="7161810"/>
            <a:ext cx="327861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import numpy as np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08800" y="7161810"/>
            <a:ext cx="327861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import pandas as pd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7474" y="6146154"/>
            <a:ext cx="32295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3F3F3"/>
                </a:solidFill>
                <a:latin typeface="Poppins Bold"/>
                <a:ea typeface="Poppins Bold"/>
                <a:cs typeface="Poppins Bold"/>
                <a:sym typeface="Poppins Bold"/>
              </a:rPr>
              <a:t>Numpy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18" y="6213284"/>
            <a:ext cx="32295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3F3F3"/>
                </a:solidFill>
                <a:latin typeface="Poppins Bold"/>
                <a:ea typeface="Poppins Bold"/>
                <a:cs typeface="Poppins Bold"/>
                <a:sym typeface="Poppins Bold"/>
              </a:rPr>
              <a:t>Pandas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6639" y="7161810"/>
            <a:ext cx="3712719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import matplotlib.pyplot as plt</a:t>
            </a:r>
          </a:p>
          <a:p>
            <a:pPr algn="ctr">
              <a:lnSpc>
                <a:spcPts val="27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953561" y="6154645"/>
            <a:ext cx="32295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3F3F3"/>
                </a:solidFill>
                <a:latin typeface="Poppins Bold"/>
                <a:ea typeface="Poppins Bold"/>
                <a:cs typeface="Poppins Bold"/>
                <a:sym typeface="Poppins Bold"/>
              </a:rPr>
              <a:t>Matplotlib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42231" y="1163214"/>
            <a:ext cx="1313427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all the libraries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001195" y="4416189"/>
            <a:ext cx="3862083" cy="3951299"/>
            <a:chOff x="0" y="0"/>
            <a:chExt cx="1017199" cy="10407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7199" cy="1040725"/>
            </a:xfrm>
            <a:custGeom>
              <a:avLst/>
              <a:gdLst/>
              <a:ahLst/>
              <a:cxnLst/>
              <a:rect r="r" b="b" t="t" l="l"/>
              <a:pathLst>
                <a:path h="1040725" w="1017199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1F3F3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433994" y="4897670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7"/>
                </a:lnTo>
                <a:lnTo>
                  <a:pt x="0" y="996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029788" y="6154645"/>
            <a:ext cx="32295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3F3F3"/>
                </a:solidFill>
                <a:latin typeface="Poppins Bold"/>
                <a:ea typeface="Poppins Bold"/>
                <a:cs typeface="Poppins Bold"/>
                <a:sym typeface="Poppins Bold"/>
              </a:rPr>
              <a:t>Seaborn</a:t>
            </a:r>
          </a:p>
        </p:txBody>
      </p:sp>
      <p:sp>
        <p:nvSpPr>
          <p:cNvPr name="AutoShape 29" id="29"/>
          <p:cNvSpPr/>
          <p:nvPr/>
        </p:nvSpPr>
        <p:spPr>
          <a:xfrm>
            <a:off x="14460444" y="6811305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4150559" y="7161810"/>
            <a:ext cx="3712719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import seaborn as sns</a:t>
            </a:r>
          </a:p>
          <a:p>
            <a:pPr algn="ctr">
              <a:lnSpc>
                <a:spcPts val="2799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-1952913">
            <a:off x="13119385" y="5291585"/>
            <a:ext cx="5803657" cy="6558986"/>
            <a:chOff x="0" y="0"/>
            <a:chExt cx="864384" cy="9768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-282213" y="64590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952913">
            <a:off x="13030408" y="5198791"/>
            <a:ext cx="5803657" cy="6558986"/>
            <a:chOff x="0" y="0"/>
            <a:chExt cx="864384" cy="976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1032" y="2222385"/>
            <a:ext cx="15545937" cy="7901414"/>
          </a:xfrm>
          <a:custGeom>
            <a:avLst/>
            <a:gdLst/>
            <a:ahLst/>
            <a:cxnLst/>
            <a:rect r="r" b="b" t="t" l="l"/>
            <a:pathLst>
              <a:path h="7901414" w="15545937">
                <a:moveTo>
                  <a:pt x="0" y="0"/>
                </a:moveTo>
                <a:lnTo>
                  <a:pt x="15545936" y="0"/>
                </a:lnTo>
                <a:lnTo>
                  <a:pt x="15545936" y="7901414"/>
                </a:lnTo>
                <a:lnTo>
                  <a:pt x="0" y="7901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4" r="0" b="-60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3396" y="446552"/>
            <a:ext cx="5588202" cy="73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2"/>
              </a:lnSpc>
              <a:spcBef>
                <a:spcPct val="0"/>
              </a:spcBef>
            </a:pPr>
            <a:r>
              <a:rPr lang="en-US" b="true" sz="4344" spc="-2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Upload the DataSet:-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1287" y="1481042"/>
            <a:ext cx="5942312" cy="39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  <a:spcBef>
                <a:spcPct val="0"/>
              </a:spcBef>
            </a:pPr>
            <a:r>
              <a:rPr lang="en-US" b="true" sz="2313" spc="-11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pd.read_csv("dirty_cafe_sales.csv")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952913">
            <a:off x="13119385" y="5291585"/>
            <a:ext cx="5803657" cy="6558986"/>
            <a:chOff x="0" y="0"/>
            <a:chExt cx="864384" cy="976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647" y="351939"/>
            <a:ext cx="648462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Overview :-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647" y="1892361"/>
            <a:ext cx="538208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Column Description:-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647" y="2891386"/>
            <a:ext cx="22070573" cy="555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9556" indent="-424778" lvl="1">
              <a:lnSpc>
                <a:spcPts val="5508"/>
              </a:lnSpc>
              <a:buFont typeface="Arial"/>
              <a:buChar char="•"/>
            </a:pPr>
            <a:r>
              <a:rPr lang="en-US" b="true" sz="3934" spc="-1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Transaction ID</a:t>
            </a:r>
            <a:r>
              <a:rPr lang="en-US" sz="3934" spc="-1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:- A unique identifier for each transaction.</a:t>
            </a:r>
          </a:p>
          <a:p>
            <a:pPr algn="l" marL="849556" indent="-424778" lvl="1">
              <a:lnSpc>
                <a:spcPts val="5508"/>
              </a:lnSpc>
              <a:buFont typeface="Arial"/>
              <a:buChar char="•"/>
            </a:pPr>
            <a:r>
              <a:rPr lang="en-US" b="true" sz="3934" spc="-1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Item   </a:t>
            </a:r>
            <a:r>
              <a:rPr lang="en-US" sz="3934" spc="-1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:- The name of the item purchased. </a:t>
            </a:r>
          </a:p>
          <a:p>
            <a:pPr algn="l" marL="849556" indent="-424778" lvl="1">
              <a:lnSpc>
                <a:spcPts val="5508"/>
              </a:lnSpc>
              <a:buFont typeface="Arial"/>
              <a:buChar char="•"/>
            </a:pPr>
            <a:r>
              <a:rPr lang="en-US" b="true" sz="3934" spc="-1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Quantity </a:t>
            </a:r>
            <a:r>
              <a:rPr lang="en-US" sz="3934" spc="-1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:- The quantity of the item purchased. </a:t>
            </a:r>
          </a:p>
          <a:p>
            <a:pPr algn="l" marL="876853" indent="-438427" lvl="1">
              <a:lnSpc>
                <a:spcPts val="5685"/>
              </a:lnSpc>
              <a:buFont typeface="Arial"/>
              <a:buChar char="•"/>
            </a:pPr>
            <a:r>
              <a:rPr lang="en-US" b="true" sz="4061" spc="-20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Price Per Unit </a:t>
            </a:r>
            <a:r>
              <a:rPr lang="en-US" sz="4061" spc="-2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:- The price of a single unit of the item. </a:t>
            </a:r>
          </a:p>
          <a:p>
            <a:pPr algn="l" marL="849556" indent="-424778" lvl="1">
              <a:lnSpc>
                <a:spcPts val="5508"/>
              </a:lnSpc>
              <a:buFont typeface="Arial"/>
              <a:buChar char="•"/>
            </a:pPr>
            <a:r>
              <a:rPr lang="en-US" b="true" sz="3934" spc="-1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Spent</a:t>
            </a:r>
            <a:r>
              <a:rPr lang="en-US" sz="3934" spc="-1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:- The total amount spent on the transaction. </a:t>
            </a:r>
          </a:p>
          <a:p>
            <a:pPr algn="l" marL="849556" indent="-424778" lvl="1">
              <a:lnSpc>
                <a:spcPts val="5508"/>
              </a:lnSpc>
              <a:buFont typeface="Arial"/>
              <a:buChar char="•"/>
            </a:pPr>
            <a:r>
              <a:rPr lang="en-US" b="true" sz="3934" spc="-1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Payment Method</a:t>
            </a:r>
            <a:r>
              <a:rPr lang="en-US" sz="3934" spc="-1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:- The method of payment used. </a:t>
            </a:r>
          </a:p>
          <a:p>
            <a:pPr algn="l" marL="849556" indent="-424778" lvl="1">
              <a:lnSpc>
                <a:spcPts val="5508"/>
              </a:lnSpc>
              <a:buFont typeface="Arial"/>
              <a:buChar char="•"/>
            </a:pPr>
            <a:r>
              <a:rPr lang="en-US" b="true" sz="3934" spc="-1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  </a:t>
            </a:r>
            <a:r>
              <a:rPr lang="en-US" sz="3934" spc="-1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:- The location where the transaction occurred. </a:t>
            </a:r>
          </a:p>
          <a:p>
            <a:pPr algn="l" marL="849556" indent="-424778" lvl="1">
              <a:lnSpc>
                <a:spcPts val="55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34" spc="-1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Transaction Date</a:t>
            </a:r>
            <a:r>
              <a:rPr lang="en-US" sz="3934" spc="-1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:- The date of the transaction.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82213" y="64590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843727" cy="10287000"/>
            <a:chOff x="0" y="0"/>
            <a:chExt cx="1312496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92" t="0" r="292" b="0"/>
            <a:stretch>
              <a:fillRect/>
            </a:stretch>
          </p:blipFill>
          <p:spPr>
            <a:xfrm flipH="false" flipV="false">
              <a:off x="0" y="0"/>
              <a:ext cx="13124969" cy="67945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707" r="0" b="707"/>
            <a:stretch>
              <a:fillRect/>
            </a:stretch>
          </p:blipFill>
          <p:spPr>
            <a:xfrm flipH="false" flipV="false">
              <a:off x="0" y="6921500"/>
              <a:ext cx="13124969" cy="6794500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-282213" y="64590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952913">
            <a:off x="13346833" y="4902395"/>
            <a:ext cx="5803657" cy="6558986"/>
            <a:chOff x="0" y="0"/>
            <a:chExt cx="864384" cy="9768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360407" y="2251017"/>
            <a:ext cx="6085561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⟶ Before Cleaning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14661" y="6945606"/>
            <a:ext cx="5334000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⟶ </a:t>
            </a: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After Cleaning Dataset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2213" y="64590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952913">
            <a:off x="13346833" y="4902395"/>
            <a:ext cx="5803657" cy="6558986"/>
            <a:chOff x="0" y="0"/>
            <a:chExt cx="864384" cy="97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200" y="1582803"/>
            <a:ext cx="3086100" cy="2273458"/>
            <a:chOff x="0" y="0"/>
            <a:chExt cx="812800" cy="5987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98771"/>
            </a:xfrm>
            <a:custGeom>
              <a:avLst/>
              <a:gdLst/>
              <a:ahLst/>
              <a:cxnLst/>
              <a:rect r="r" b="b" t="t" l="l"/>
              <a:pathLst>
                <a:path h="59877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70830"/>
                  </a:lnTo>
                  <a:cubicBezTo>
                    <a:pt x="812800" y="504762"/>
                    <a:pt x="799321" y="537304"/>
                    <a:pt x="775327" y="561298"/>
                  </a:cubicBezTo>
                  <a:cubicBezTo>
                    <a:pt x="751333" y="585292"/>
                    <a:pt x="718791" y="598771"/>
                    <a:pt x="684859" y="598771"/>
                  </a:cubicBezTo>
                  <a:lnTo>
                    <a:pt x="127941" y="598771"/>
                  </a:lnTo>
                  <a:cubicBezTo>
                    <a:pt x="94009" y="598771"/>
                    <a:pt x="61467" y="585292"/>
                    <a:pt x="37473" y="561298"/>
                  </a:cubicBezTo>
                  <a:cubicBezTo>
                    <a:pt x="13479" y="537304"/>
                    <a:pt x="0" y="504762"/>
                    <a:pt x="0" y="47083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df.head()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shows top 5 rows by default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261994"/>
            <a:ext cx="6658156" cy="61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2"/>
              </a:lnSpc>
            </a:pPr>
            <a:r>
              <a:rPr lang="en-US" sz="357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Quick </a:t>
            </a:r>
            <a:r>
              <a:rPr lang="en-US" b="true" sz="357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Verification:-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932449" y="1582803"/>
            <a:ext cx="3208351" cy="2273458"/>
            <a:chOff x="0" y="0"/>
            <a:chExt cx="844998" cy="598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4998" cy="598771"/>
            </a:xfrm>
            <a:custGeom>
              <a:avLst/>
              <a:gdLst/>
              <a:ahLst/>
              <a:cxnLst/>
              <a:rect r="r" b="b" t="t" l="l"/>
              <a:pathLst>
                <a:path h="598771" w="844998">
                  <a:moveTo>
                    <a:pt x="123066" y="0"/>
                  </a:moveTo>
                  <a:lnTo>
                    <a:pt x="721932" y="0"/>
                  </a:lnTo>
                  <a:cubicBezTo>
                    <a:pt x="789899" y="0"/>
                    <a:pt x="844998" y="55098"/>
                    <a:pt x="844998" y="123066"/>
                  </a:cubicBezTo>
                  <a:lnTo>
                    <a:pt x="844998" y="475705"/>
                  </a:lnTo>
                  <a:cubicBezTo>
                    <a:pt x="844998" y="543673"/>
                    <a:pt x="789899" y="598771"/>
                    <a:pt x="721932" y="598771"/>
                  </a:cubicBezTo>
                  <a:lnTo>
                    <a:pt x="123066" y="598771"/>
                  </a:lnTo>
                  <a:cubicBezTo>
                    <a:pt x="55098" y="598771"/>
                    <a:pt x="0" y="543673"/>
                    <a:pt x="0" y="475705"/>
                  </a:cubicBezTo>
                  <a:lnTo>
                    <a:pt x="0" y="123066"/>
                  </a:lnTo>
                  <a:cubicBezTo>
                    <a:pt x="0" y="55098"/>
                    <a:pt x="55098" y="0"/>
                    <a:pt x="12306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44998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df.tail()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shows bottom 5 rows by default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78699" y="1582803"/>
            <a:ext cx="3086100" cy="2273458"/>
            <a:chOff x="0" y="0"/>
            <a:chExt cx="812800" cy="5987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598771"/>
            </a:xfrm>
            <a:custGeom>
              <a:avLst/>
              <a:gdLst/>
              <a:ahLst/>
              <a:cxnLst/>
              <a:rect r="r" b="b" t="t" l="l"/>
              <a:pathLst>
                <a:path h="59877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70830"/>
                  </a:lnTo>
                  <a:cubicBezTo>
                    <a:pt x="812800" y="504762"/>
                    <a:pt x="799321" y="537304"/>
                    <a:pt x="775327" y="561298"/>
                  </a:cubicBezTo>
                  <a:cubicBezTo>
                    <a:pt x="751333" y="585292"/>
                    <a:pt x="718791" y="598771"/>
                    <a:pt x="684859" y="598771"/>
                  </a:cubicBezTo>
                  <a:lnTo>
                    <a:pt x="127941" y="598771"/>
                  </a:lnTo>
                  <a:cubicBezTo>
                    <a:pt x="94009" y="598771"/>
                    <a:pt x="61467" y="585292"/>
                    <a:pt x="37473" y="561298"/>
                  </a:cubicBezTo>
                  <a:cubicBezTo>
                    <a:pt x="13479" y="537304"/>
                    <a:pt x="0" y="504762"/>
                    <a:pt x="0" y="47083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df.shape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 return (number of rows, number of columns).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468" y="1582803"/>
            <a:ext cx="3005822" cy="2273458"/>
            <a:chOff x="0" y="0"/>
            <a:chExt cx="791657" cy="5987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1657" cy="598771"/>
            </a:xfrm>
            <a:custGeom>
              <a:avLst/>
              <a:gdLst/>
              <a:ahLst/>
              <a:cxnLst/>
              <a:rect r="r" b="b" t="t" l="l"/>
              <a:pathLst>
                <a:path h="598771" w="791657">
                  <a:moveTo>
                    <a:pt x="131358" y="0"/>
                  </a:moveTo>
                  <a:lnTo>
                    <a:pt x="660299" y="0"/>
                  </a:lnTo>
                  <a:cubicBezTo>
                    <a:pt x="695137" y="0"/>
                    <a:pt x="728549" y="13839"/>
                    <a:pt x="753183" y="38474"/>
                  </a:cubicBezTo>
                  <a:cubicBezTo>
                    <a:pt x="777817" y="63108"/>
                    <a:pt x="791657" y="96519"/>
                    <a:pt x="791657" y="131358"/>
                  </a:cubicBezTo>
                  <a:lnTo>
                    <a:pt x="791657" y="467413"/>
                  </a:lnTo>
                  <a:cubicBezTo>
                    <a:pt x="791657" y="502251"/>
                    <a:pt x="777817" y="535663"/>
                    <a:pt x="753183" y="560297"/>
                  </a:cubicBezTo>
                  <a:cubicBezTo>
                    <a:pt x="728549" y="584931"/>
                    <a:pt x="695137" y="598771"/>
                    <a:pt x="660299" y="598771"/>
                  </a:cubicBezTo>
                  <a:lnTo>
                    <a:pt x="131358" y="598771"/>
                  </a:lnTo>
                  <a:cubicBezTo>
                    <a:pt x="96519" y="598771"/>
                    <a:pt x="63108" y="584931"/>
                    <a:pt x="38474" y="560297"/>
                  </a:cubicBezTo>
                  <a:cubicBezTo>
                    <a:pt x="13839" y="535663"/>
                    <a:pt x="0" y="502251"/>
                    <a:pt x="0" y="467413"/>
                  </a:cubicBezTo>
                  <a:lnTo>
                    <a:pt x="0" y="131358"/>
                  </a:lnTo>
                  <a:cubicBezTo>
                    <a:pt x="0" y="96519"/>
                    <a:pt x="13839" y="63108"/>
                    <a:pt x="38474" y="38474"/>
                  </a:cubicBezTo>
                  <a:cubicBezTo>
                    <a:pt x="63108" y="13839"/>
                    <a:pt x="96519" y="0"/>
                    <a:pt x="13135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91657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df.info()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 gives  summary of a Dataset.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311665" y="1582803"/>
            <a:ext cx="3248490" cy="2273458"/>
            <a:chOff x="0" y="0"/>
            <a:chExt cx="855569" cy="5987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5569" cy="598771"/>
            </a:xfrm>
            <a:custGeom>
              <a:avLst/>
              <a:gdLst/>
              <a:ahLst/>
              <a:cxnLst/>
              <a:rect r="r" b="b" t="t" l="l"/>
              <a:pathLst>
                <a:path h="598771" w="855569">
                  <a:moveTo>
                    <a:pt x="121545" y="0"/>
                  </a:moveTo>
                  <a:lnTo>
                    <a:pt x="734024" y="0"/>
                  </a:lnTo>
                  <a:cubicBezTo>
                    <a:pt x="801152" y="0"/>
                    <a:pt x="855569" y="54418"/>
                    <a:pt x="855569" y="121545"/>
                  </a:cubicBezTo>
                  <a:lnTo>
                    <a:pt x="855569" y="477226"/>
                  </a:lnTo>
                  <a:cubicBezTo>
                    <a:pt x="855569" y="509462"/>
                    <a:pt x="842764" y="540377"/>
                    <a:pt x="819970" y="563171"/>
                  </a:cubicBezTo>
                  <a:cubicBezTo>
                    <a:pt x="797176" y="585965"/>
                    <a:pt x="766260" y="598771"/>
                    <a:pt x="734024" y="598771"/>
                  </a:cubicBezTo>
                  <a:lnTo>
                    <a:pt x="121545" y="598771"/>
                  </a:lnTo>
                  <a:cubicBezTo>
                    <a:pt x="54418" y="598771"/>
                    <a:pt x="0" y="544353"/>
                    <a:pt x="0" y="477226"/>
                  </a:cubicBezTo>
                  <a:lnTo>
                    <a:pt x="0" y="121545"/>
                  </a:lnTo>
                  <a:cubicBezTo>
                    <a:pt x="0" y="54418"/>
                    <a:pt x="54418" y="0"/>
                    <a:pt x="12154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55569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df.describe()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 gives statistical summary for numerical columns.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6200" y="4570636"/>
            <a:ext cx="3086100" cy="2273458"/>
            <a:chOff x="0" y="0"/>
            <a:chExt cx="812800" cy="5987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598771"/>
            </a:xfrm>
            <a:custGeom>
              <a:avLst/>
              <a:gdLst/>
              <a:ahLst/>
              <a:cxnLst/>
              <a:rect r="r" b="b" t="t" l="l"/>
              <a:pathLst>
                <a:path h="59877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70830"/>
                  </a:lnTo>
                  <a:cubicBezTo>
                    <a:pt x="812800" y="504762"/>
                    <a:pt x="799321" y="537304"/>
                    <a:pt x="775327" y="561298"/>
                  </a:cubicBezTo>
                  <a:cubicBezTo>
                    <a:pt x="751333" y="585292"/>
                    <a:pt x="718791" y="598771"/>
                    <a:pt x="684859" y="598771"/>
                  </a:cubicBezTo>
                  <a:lnTo>
                    <a:pt x="127941" y="598771"/>
                  </a:lnTo>
                  <a:cubicBezTo>
                    <a:pt x="94009" y="598771"/>
                    <a:pt x="61467" y="585292"/>
                    <a:pt x="37473" y="561298"/>
                  </a:cubicBezTo>
                  <a:cubicBezTo>
                    <a:pt x="13479" y="537304"/>
                    <a:pt x="0" y="504762"/>
                    <a:pt x="0" y="47083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df.isnull().sum()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finding total count of null values in a dataset.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54700" y="4570636"/>
            <a:ext cx="3086100" cy="2273458"/>
            <a:chOff x="0" y="0"/>
            <a:chExt cx="812800" cy="5987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598771"/>
            </a:xfrm>
            <a:custGeom>
              <a:avLst/>
              <a:gdLst/>
              <a:ahLst/>
              <a:cxnLst/>
              <a:rect r="r" b="b" t="t" l="l"/>
              <a:pathLst>
                <a:path h="59877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70830"/>
                  </a:lnTo>
                  <a:cubicBezTo>
                    <a:pt x="812800" y="504762"/>
                    <a:pt x="799321" y="537304"/>
                    <a:pt x="775327" y="561298"/>
                  </a:cubicBezTo>
                  <a:cubicBezTo>
                    <a:pt x="751333" y="585292"/>
                    <a:pt x="718791" y="598771"/>
                    <a:pt x="684859" y="598771"/>
                  </a:cubicBezTo>
                  <a:lnTo>
                    <a:pt x="127941" y="598771"/>
                  </a:lnTo>
                  <a:cubicBezTo>
                    <a:pt x="94009" y="598771"/>
                    <a:pt x="61467" y="585292"/>
                    <a:pt x="37473" y="561298"/>
                  </a:cubicBezTo>
                  <a:cubicBezTo>
                    <a:pt x="13479" y="537304"/>
                    <a:pt x="0" y="504762"/>
                    <a:pt x="0" y="47083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df['Transaction ID'].is_unique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check the unique values.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78699" y="4570636"/>
            <a:ext cx="3086100" cy="2273458"/>
            <a:chOff x="0" y="0"/>
            <a:chExt cx="812800" cy="5987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598771"/>
            </a:xfrm>
            <a:custGeom>
              <a:avLst/>
              <a:gdLst/>
              <a:ahLst/>
              <a:cxnLst/>
              <a:rect r="r" b="b" t="t" l="l"/>
              <a:pathLst>
                <a:path h="59877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70830"/>
                  </a:lnTo>
                  <a:cubicBezTo>
                    <a:pt x="812800" y="504762"/>
                    <a:pt x="799321" y="537304"/>
                    <a:pt x="775327" y="561298"/>
                  </a:cubicBezTo>
                  <a:cubicBezTo>
                    <a:pt x="751333" y="585292"/>
                    <a:pt x="718791" y="598771"/>
                    <a:pt x="684859" y="598771"/>
                  </a:cubicBezTo>
                  <a:lnTo>
                    <a:pt x="127941" y="598771"/>
                  </a:lnTo>
                  <a:cubicBezTo>
                    <a:pt x="94009" y="598771"/>
                    <a:pt x="61467" y="585292"/>
                    <a:pt x="37473" y="561298"/>
                  </a:cubicBezTo>
                  <a:cubicBezTo>
                    <a:pt x="13479" y="537304"/>
                    <a:pt x="0" y="504762"/>
                    <a:pt x="0" y="47083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1280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df['Transaction ID'].duplicated().sum()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check the duplicate values.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7481842"/>
            <a:ext cx="4032135" cy="2273458"/>
            <a:chOff x="0" y="0"/>
            <a:chExt cx="1061962" cy="5987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1962" cy="598771"/>
            </a:xfrm>
            <a:custGeom>
              <a:avLst/>
              <a:gdLst/>
              <a:ahLst/>
              <a:cxnLst/>
              <a:rect r="r" b="b" t="t" l="l"/>
              <a:pathLst>
                <a:path h="598771" w="1061962">
                  <a:moveTo>
                    <a:pt x="97923" y="0"/>
                  </a:moveTo>
                  <a:lnTo>
                    <a:pt x="964039" y="0"/>
                  </a:lnTo>
                  <a:cubicBezTo>
                    <a:pt x="1018120" y="0"/>
                    <a:pt x="1061962" y="43842"/>
                    <a:pt x="1061962" y="97923"/>
                  </a:cubicBezTo>
                  <a:lnTo>
                    <a:pt x="1061962" y="500848"/>
                  </a:lnTo>
                  <a:cubicBezTo>
                    <a:pt x="1061962" y="526819"/>
                    <a:pt x="1051645" y="551726"/>
                    <a:pt x="1033281" y="570090"/>
                  </a:cubicBezTo>
                  <a:cubicBezTo>
                    <a:pt x="1014917" y="588454"/>
                    <a:pt x="990010" y="598771"/>
                    <a:pt x="964039" y="598771"/>
                  </a:cubicBezTo>
                  <a:lnTo>
                    <a:pt x="97923" y="598771"/>
                  </a:lnTo>
                  <a:cubicBezTo>
                    <a:pt x="71952" y="598771"/>
                    <a:pt x="47045" y="588454"/>
                    <a:pt x="28681" y="570090"/>
                  </a:cubicBezTo>
                  <a:cubicBezTo>
                    <a:pt x="10317" y="551726"/>
                    <a:pt x="0" y="526819"/>
                    <a:pt x="0" y="500848"/>
                  </a:cubicBezTo>
                  <a:lnTo>
                    <a:pt x="0" y="97923"/>
                  </a:lnTo>
                  <a:cubicBezTo>
                    <a:pt x="0" y="71952"/>
                    <a:pt x="10317" y="47045"/>
                    <a:pt x="28681" y="28681"/>
                  </a:cubicBezTo>
                  <a:cubicBezTo>
                    <a:pt x="47045" y="10317"/>
                    <a:pt x="71952" y="0"/>
                    <a:pt x="97923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61962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df.select_dtypes(include="object").columns.tolist()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check the categorical column data.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50487" y="7481842"/>
            <a:ext cx="4314312" cy="2273458"/>
            <a:chOff x="0" y="0"/>
            <a:chExt cx="1136280" cy="5987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6280" cy="598771"/>
            </a:xfrm>
            <a:custGeom>
              <a:avLst/>
              <a:gdLst/>
              <a:ahLst/>
              <a:cxnLst/>
              <a:rect r="r" b="b" t="t" l="l"/>
              <a:pathLst>
                <a:path h="598771" w="1136280">
                  <a:moveTo>
                    <a:pt x="91518" y="0"/>
                  </a:moveTo>
                  <a:lnTo>
                    <a:pt x="1044762" y="0"/>
                  </a:lnTo>
                  <a:cubicBezTo>
                    <a:pt x="1095306" y="0"/>
                    <a:pt x="1136280" y="40974"/>
                    <a:pt x="1136280" y="91518"/>
                  </a:cubicBezTo>
                  <a:lnTo>
                    <a:pt x="1136280" y="507253"/>
                  </a:lnTo>
                  <a:cubicBezTo>
                    <a:pt x="1136280" y="531525"/>
                    <a:pt x="1126638" y="554803"/>
                    <a:pt x="1109475" y="571966"/>
                  </a:cubicBezTo>
                  <a:cubicBezTo>
                    <a:pt x="1092312" y="589129"/>
                    <a:pt x="1069034" y="598771"/>
                    <a:pt x="1044762" y="598771"/>
                  </a:cubicBezTo>
                  <a:lnTo>
                    <a:pt x="91518" y="598771"/>
                  </a:lnTo>
                  <a:cubicBezTo>
                    <a:pt x="67246" y="598771"/>
                    <a:pt x="43968" y="589129"/>
                    <a:pt x="26805" y="571966"/>
                  </a:cubicBezTo>
                  <a:cubicBezTo>
                    <a:pt x="9642" y="554803"/>
                    <a:pt x="0" y="531525"/>
                    <a:pt x="0" y="507253"/>
                  </a:cubicBezTo>
                  <a:lnTo>
                    <a:pt x="0" y="91518"/>
                  </a:lnTo>
                  <a:cubicBezTo>
                    <a:pt x="0" y="67246"/>
                    <a:pt x="9642" y="43968"/>
                    <a:pt x="26805" y="26805"/>
                  </a:cubicBezTo>
                  <a:cubicBezTo>
                    <a:pt x="43968" y="9642"/>
                    <a:pt x="67246" y="0"/>
                    <a:pt x="9151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13628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df.select_dtypes(include="number").columns.tolist()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check the numerical column data.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468" y="4570636"/>
            <a:ext cx="3086100" cy="2273458"/>
            <a:chOff x="0" y="0"/>
            <a:chExt cx="812800" cy="5987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598771"/>
            </a:xfrm>
            <a:custGeom>
              <a:avLst/>
              <a:gdLst/>
              <a:ahLst/>
              <a:cxnLst/>
              <a:rect r="r" b="b" t="t" l="l"/>
              <a:pathLst>
                <a:path h="59877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70830"/>
                  </a:lnTo>
                  <a:cubicBezTo>
                    <a:pt x="812800" y="504762"/>
                    <a:pt x="799321" y="537304"/>
                    <a:pt x="775327" y="561298"/>
                  </a:cubicBezTo>
                  <a:cubicBezTo>
                    <a:pt x="751333" y="585292"/>
                    <a:pt x="718791" y="598771"/>
                    <a:pt x="684859" y="598771"/>
                  </a:cubicBezTo>
                  <a:lnTo>
                    <a:pt x="127941" y="598771"/>
                  </a:lnTo>
                  <a:cubicBezTo>
                    <a:pt x="94009" y="598771"/>
                    <a:pt x="61467" y="585292"/>
                    <a:pt x="37473" y="561298"/>
                  </a:cubicBezTo>
                  <a:cubicBezTo>
                    <a:pt x="13479" y="537304"/>
                    <a:pt x="0" y="504762"/>
                    <a:pt x="0" y="47083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1280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df.dtypes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find the data type of each column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466237" y="4570636"/>
            <a:ext cx="3086100" cy="2273458"/>
            <a:chOff x="0" y="0"/>
            <a:chExt cx="812800" cy="5987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598771"/>
            </a:xfrm>
            <a:custGeom>
              <a:avLst/>
              <a:gdLst/>
              <a:ahLst/>
              <a:cxnLst/>
              <a:rect r="r" b="b" t="t" l="l"/>
              <a:pathLst>
                <a:path h="59877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70830"/>
                  </a:lnTo>
                  <a:cubicBezTo>
                    <a:pt x="812800" y="504762"/>
                    <a:pt x="799321" y="537304"/>
                    <a:pt x="775327" y="561298"/>
                  </a:cubicBezTo>
                  <a:cubicBezTo>
                    <a:pt x="751333" y="585292"/>
                    <a:pt x="718791" y="598771"/>
                    <a:pt x="684859" y="598771"/>
                  </a:cubicBezTo>
                  <a:lnTo>
                    <a:pt x="127941" y="598771"/>
                  </a:lnTo>
                  <a:cubicBezTo>
                    <a:pt x="94009" y="598771"/>
                    <a:pt x="61467" y="585292"/>
                    <a:pt x="37473" y="561298"/>
                  </a:cubicBezTo>
                  <a:cubicBezTo>
                    <a:pt x="13479" y="537304"/>
                    <a:pt x="0" y="504762"/>
                    <a:pt x="0" y="47083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12800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df.columns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 returns columns names.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19469" y="7481842"/>
            <a:ext cx="4016441" cy="2273458"/>
            <a:chOff x="0" y="0"/>
            <a:chExt cx="1057828" cy="5987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7828" cy="598771"/>
            </a:xfrm>
            <a:custGeom>
              <a:avLst/>
              <a:gdLst/>
              <a:ahLst/>
              <a:cxnLst/>
              <a:rect r="r" b="b" t="t" l="l"/>
              <a:pathLst>
                <a:path h="598771" w="1057828">
                  <a:moveTo>
                    <a:pt x="98305" y="0"/>
                  </a:moveTo>
                  <a:lnTo>
                    <a:pt x="959523" y="0"/>
                  </a:lnTo>
                  <a:cubicBezTo>
                    <a:pt x="985595" y="0"/>
                    <a:pt x="1010599" y="10357"/>
                    <a:pt x="1029035" y="28793"/>
                  </a:cubicBezTo>
                  <a:cubicBezTo>
                    <a:pt x="1047471" y="47229"/>
                    <a:pt x="1057828" y="72233"/>
                    <a:pt x="1057828" y="98305"/>
                  </a:cubicBezTo>
                  <a:lnTo>
                    <a:pt x="1057828" y="500465"/>
                  </a:lnTo>
                  <a:cubicBezTo>
                    <a:pt x="1057828" y="526538"/>
                    <a:pt x="1047471" y="551542"/>
                    <a:pt x="1029035" y="569978"/>
                  </a:cubicBezTo>
                  <a:cubicBezTo>
                    <a:pt x="1010599" y="588414"/>
                    <a:pt x="985595" y="598771"/>
                    <a:pt x="959523" y="598771"/>
                  </a:cubicBezTo>
                  <a:lnTo>
                    <a:pt x="98305" y="598771"/>
                  </a:lnTo>
                  <a:cubicBezTo>
                    <a:pt x="72233" y="598771"/>
                    <a:pt x="47229" y="588414"/>
                    <a:pt x="28793" y="569978"/>
                  </a:cubicBezTo>
                  <a:cubicBezTo>
                    <a:pt x="10357" y="551542"/>
                    <a:pt x="0" y="526538"/>
                    <a:pt x="0" y="500465"/>
                  </a:cubicBezTo>
                  <a:lnTo>
                    <a:pt x="0" y="98305"/>
                  </a:lnTo>
                  <a:cubicBezTo>
                    <a:pt x="0" y="72233"/>
                    <a:pt x="10357" y="47229"/>
                    <a:pt x="28793" y="28793"/>
                  </a:cubicBezTo>
                  <a:cubicBezTo>
                    <a:pt x="47229" y="10357"/>
                    <a:pt x="72233" y="0"/>
                    <a:pt x="9830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57828" cy="63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b="true" sz="1928" spc="-9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df["Transaction Date"] = pd.to_datetime(df["Transaction Date"],errors="coerce")</a:t>
              </a:r>
            </a:p>
            <a:p>
              <a:pPr algn="l" marL="416363" indent="-208181" lvl="1">
                <a:lnSpc>
                  <a:spcPts val="2699"/>
                </a:lnSpc>
                <a:buFont typeface="Arial"/>
                <a:buChar char="•"/>
              </a:pPr>
              <a:r>
                <a:rPr lang="en-US" sz="1928" spc="-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Convert valid dates and invalid values to NaT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2213" y="64590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952913">
            <a:off x="13119385" y="5291585"/>
            <a:ext cx="5803657" cy="6558986"/>
            <a:chOff x="0" y="0"/>
            <a:chExt cx="864384" cy="97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337397"/>
            <a:ext cx="110036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EDA(Exploratory Data Analysis):-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9119" y="1768165"/>
            <a:ext cx="16432116" cy="87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b="true" sz="2528" spc="-12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---&gt;  EDA stands f</a:t>
            </a:r>
            <a:r>
              <a:rPr lang="en-US" b="true" sz="2528" spc="-12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 Exploratory Data Analysis. It is the process of understanding a dataset using data cleaning, statistics, and visualization.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7880" y="3162014"/>
            <a:ext cx="17892239" cy="568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6"/>
              </a:lnSpc>
              <a:spcBef>
                <a:spcPct val="0"/>
              </a:spcBef>
            </a:pPr>
            <a:r>
              <a:rPr lang="en-US" b="true" sz="3819" spc="-19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</a:t>
            </a:r>
            <a:r>
              <a:rPr lang="en-US" b="true" sz="3819" spc="-19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EDA techniques:</a:t>
            </a:r>
          </a:p>
          <a:p>
            <a:pPr algn="l">
              <a:lnSpc>
                <a:spcPts val="5346"/>
              </a:lnSpc>
              <a:spcBef>
                <a:spcPct val="0"/>
              </a:spcBef>
            </a:pPr>
          </a:p>
          <a:p>
            <a:pPr algn="l" marL="669220" indent="-334610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</a:t>
            </a:r>
            <a:r>
              <a:rPr lang="en-US" sz="3099" spc="-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 - Removing or correcting missing, duplicate, and incorrect data.</a:t>
            </a:r>
          </a:p>
          <a:p>
            <a:pPr algn="l" marL="669220" indent="-334610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Missing-value analysis :- </a:t>
            </a:r>
            <a:r>
              <a:rPr lang="en-US" sz="3099" spc="-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Identifying and handling missing values in the dataset.</a:t>
            </a:r>
          </a:p>
          <a:p>
            <a:pPr algn="l" marL="669220" indent="-334610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Univariate analysis:-  </a:t>
            </a:r>
            <a:r>
              <a:rPr lang="en-US" sz="3099" spc="-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Analyzing one variable at a time to understand its distribution.</a:t>
            </a:r>
          </a:p>
          <a:p>
            <a:pPr algn="l" marL="669220" indent="-334610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Bivariate analysis:- </a:t>
            </a:r>
            <a:r>
              <a:rPr lang="en-US" sz="3099" spc="-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Analyzing the relationship between two variables.</a:t>
            </a:r>
          </a:p>
          <a:p>
            <a:pPr algn="l" marL="669220" indent="-334610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Multivariate analysis:- </a:t>
            </a:r>
            <a:r>
              <a:rPr lang="en-US" sz="3099" spc="-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Analyzing relationships among three or more variables.</a:t>
            </a:r>
          </a:p>
          <a:p>
            <a:pPr algn="l" marL="669220" indent="-334610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Correlation analysis:- </a:t>
            </a:r>
            <a:r>
              <a:rPr lang="en-US" sz="3099" spc="-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Measuring the strength and direction of relationships between numerical variables.</a:t>
            </a:r>
          </a:p>
          <a:p>
            <a:pPr algn="l" marL="669220" indent="-334610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Visualization: </a:t>
            </a:r>
            <a:r>
              <a:rPr lang="en-US" sz="3099" spc="-1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Using charts and graphs to understand patterns and trends in the data.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00835" y="2119127"/>
            <a:ext cx="5048310" cy="2114442"/>
          </a:xfrm>
          <a:custGeom>
            <a:avLst/>
            <a:gdLst/>
            <a:ahLst/>
            <a:cxnLst/>
            <a:rect r="r" b="b" t="t" l="l"/>
            <a:pathLst>
              <a:path h="2114442" w="5048310">
                <a:moveTo>
                  <a:pt x="0" y="0"/>
                </a:moveTo>
                <a:lnTo>
                  <a:pt x="5048310" y="0"/>
                </a:lnTo>
                <a:lnTo>
                  <a:pt x="5048310" y="2114442"/>
                </a:lnTo>
                <a:lnTo>
                  <a:pt x="0" y="2114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0" r="-4686" b="-13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8293" y="4373229"/>
            <a:ext cx="7917430" cy="5704186"/>
          </a:xfrm>
          <a:custGeom>
            <a:avLst/>
            <a:gdLst/>
            <a:ahLst/>
            <a:cxnLst/>
            <a:rect r="r" b="b" t="t" l="l"/>
            <a:pathLst>
              <a:path h="5704186" w="7917430">
                <a:moveTo>
                  <a:pt x="0" y="0"/>
                </a:moveTo>
                <a:lnTo>
                  <a:pt x="7917430" y="0"/>
                </a:lnTo>
                <a:lnTo>
                  <a:pt x="7917430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95" t="0" r="-126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875602" y="2119127"/>
            <a:ext cx="4261923" cy="2114442"/>
          </a:xfrm>
          <a:custGeom>
            <a:avLst/>
            <a:gdLst/>
            <a:ahLst/>
            <a:cxnLst/>
            <a:rect r="r" b="b" t="t" l="l"/>
            <a:pathLst>
              <a:path h="2114442" w="4261923">
                <a:moveTo>
                  <a:pt x="0" y="0"/>
                </a:moveTo>
                <a:lnTo>
                  <a:pt x="4261923" y="0"/>
                </a:lnTo>
                <a:lnTo>
                  <a:pt x="4261923" y="2114442"/>
                </a:lnTo>
                <a:lnTo>
                  <a:pt x="0" y="211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3860" y="4373229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07802" y="265199"/>
            <a:ext cx="13793161" cy="98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</a:t>
            </a:r>
            <a:r>
              <a:rPr lang="en-US" b="true" sz="336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ariate Analysis:-</a:t>
            </a:r>
          </a:p>
          <a:p>
            <a:pPr algn="l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- analyzing one column at a time.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29409" y="1637250"/>
            <a:ext cx="8496190" cy="33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9"/>
              </a:lnSpc>
              <a:spcBef>
                <a:spcPct val="0"/>
              </a:spcBef>
            </a:pPr>
            <a:r>
              <a:rPr lang="en-US" sz="2028" i="true" spc="-10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---&gt; it shows  the Number of Transactions by Item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95751" y="1637250"/>
            <a:ext cx="9975085" cy="35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9"/>
              </a:lnSpc>
              <a:spcBef>
                <a:spcPct val="0"/>
              </a:spcBef>
            </a:pPr>
            <a:r>
              <a:rPr lang="en-US" sz="2128" i="true" spc="-106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---&gt; it shows  the Number of Transactions by Payment Method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4613" y="63066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952913">
            <a:off x="13346833" y="4902395"/>
            <a:ext cx="5803657" cy="6558986"/>
            <a:chOff x="0" y="0"/>
            <a:chExt cx="864384" cy="97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8344" y="4453040"/>
            <a:ext cx="8805656" cy="5433479"/>
          </a:xfrm>
          <a:custGeom>
            <a:avLst/>
            <a:gdLst/>
            <a:ahLst/>
            <a:cxnLst/>
            <a:rect r="r" b="b" t="t" l="l"/>
            <a:pathLst>
              <a:path h="5433479" w="8805656">
                <a:moveTo>
                  <a:pt x="0" y="0"/>
                </a:moveTo>
                <a:lnTo>
                  <a:pt x="8805656" y="0"/>
                </a:lnTo>
                <a:lnTo>
                  <a:pt x="8805656" y="5433479"/>
                </a:lnTo>
                <a:lnTo>
                  <a:pt x="0" y="5433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08445" y="2212557"/>
            <a:ext cx="4442481" cy="2113413"/>
          </a:xfrm>
          <a:custGeom>
            <a:avLst/>
            <a:gdLst/>
            <a:ahLst/>
            <a:cxnLst/>
            <a:rect r="r" b="b" t="t" l="l"/>
            <a:pathLst>
              <a:path h="2113413" w="4442481">
                <a:moveTo>
                  <a:pt x="0" y="0"/>
                </a:moveTo>
                <a:lnTo>
                  <a:pt x="4442481" y="0"/>
                </a:lnTo>
                <a:lnTo>
                  <a:pt x="4442481" y="2113413"/>
                </a:lnTo>
                <a:lnTo>
                  <a:pt x="0" y="211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59172" y="2212557"/>
            <a:ext cx="4700143" cy="2113413"/>
          </a:xfrm>
          <a:custGeom>
            <a:avLst/>
            <a:gdLst/>
            <a:ahLst/>
            <a:cxnLst/>
            <a:rect r="r" b="b" t="t" l="l"/>
            <a:pathLst>
              <a:path h="2113413" w="4700143">
                <a:moveTo>
                  <a:pt x="0" y="0"/>
                </a:moveTo>
                <a:lnTo>
                  <a:pt x="4700143" y="0"/>
                </a:lnTo>
                <a:lnTo>
                  <a:pt x="4700143" y="2113413"/>
                </a:lnTo>
                <a:lnTo>
                  <a:pt x="0" y="2113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75282" y="4453040"/>
            <a:ext cx="8798989" cy="5433479"/>
          </a:xfrm>
          <a:custGeom>
            <a:avLst/>
            <a:gdLst/>
            <a:ahLst/>
            <a:cxnLst/>
            <a:rect r="r" b="b" t="t" l="l"/>
            <a:pathLst>
              <a:path h="5433479" w="8798989">
                <a:moveTo>
                  <a:pt x="0" y="0"/>
                </a:moveTo>
                <a:lnTo>
                  <a:pt x="8798989" y="0"/>
                </a:lnTo>
                <a:lnTo>
                  <a:pt x="8798989" y="5433479"/>
                </a:lnTo>
                <a:lnTo>
                  <a:pt x="0" y="5433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48" t="0" r="-294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7802" y="284249"/>
            <a:ext cx="11967607" cy="99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48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Biv</a:t>
            </a:r>
            <a:r>
              <a:rPr lang="en-US" b="true" sz="348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ariate Analysis:-</a:t>
            </a:r>
          </a:p>
          <a:p>
            <a:pPr algn="l">
              <a:lnSpc>
                <a:spcPts val="3187"/>
              </a:lnSpc>
            </a:pPr>
            <a:r>
              <a:rPr lang="en-US" b="true" sz="227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- it is the relationship between two variables(two Columns).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003" y="1521130"/>
            <a:ext cx="8147826" cy="69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  <a:spcBef>
                <a:spcPct val="0"/>
              </a:spcBef>
            </a:pPr>
            <a:r>
              <a:rPr lang="en-US" sz="2028" spc="-1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---&gt; This plot sh</a:t>
            </a:r>
            <a:r>
              <a:rPr lang="en-US" sz="2028" spc="-1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ows which payment method generates the highest total sales.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5282" y="1521130"/>
            <a:ext cx="8147826" cy="33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  <a:spcBef>
                <a:spcPct val="0"/>
              </a:spcBef>
            </a:pPr>
            <a:r>
              <a:rPr lang="en-US" sz="2028" spc="-1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---&gt; This plot sh</a:t>
            </a:r>
            <a:r>
              <a:rPr lang="en-US" sz="2028" spc="-1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ows which Location generates the highest total sales.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2213" y="64590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952913">
            <a:off x="13346833" y="4902395"/>
            <a:ext cx="5803657" cy="6558986"/>
            <a:chOff x="0" y="0"/>
            <a:chExt cx="864384" cy="97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001340" y="3941028"/>
            <a:ext cx="5485927" cy="1823855"/>
          </a:xfrm>
          <a:custGeom>
            <a:avLst/>
            <a:gdLst/>
            <a:ahLst/>
            <a:cxnLst/>
            <a:rect r="r" b="b" t="t" l="l"/>
            <a:pathLst>
              <a:path h="1823855" w="5485927">
                <a:moveTo>
                  <a:pt x="0" y="0"/>
                </a:moveTo>
                <a:lnTo>
                  <a:pt x="5485927" y="0"/>
                </a:lnTo>
                <a:lnTo>
                  <a:pt x="5485927" y="1823855"/>
                </a:lnTo>
                <a:lnTo>
                  <a:pt x="0" y="1823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4664" y="3856261"/>
            <a:ext cx="9228120" cy="6272346"/>
          </a:xfrm>
          <a:custGeom>
            <a:avLst/>
            <a:gdLst/>
            <a:ahLst/>
            <a:cxnLst/>
            <a:rect r="r" b="b" t="t" l="l"/>
            <a:pathLst>
              <a:path h="6272346" w="9228120">
                <a:moveTo>
                  <a:pt x="0" y="0"/>
                </a:moveTo>
                <a:lnTo>
                  <a:pt x="9228120" y="0"/>
                </a:lnTo>
                <a:lnTo>
                  <a:pt x="9228120" y="6272346"/>
                </a:lnTo>
                <a:lnTo>
                  <a:pt x="0" y="6272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01340" y="6183983"/>
            <a:ext cx="7686216" cy="3944624"/>
          </a:xfrm>
          <a:custGeom>
            <a:avLst/>
            <a:gdLst/>
            <a:ahLst/>
            <a:cxnLst/>
            <a:rect r="r" b="b" t="t" l="l"/>
            <a:pathLst>
              <a:path h="3944624" w="7686216">
                <a:moveTo>
                  <a:pt x="0" y="0"/>
                </a:moveTo>
                <a:lnTo>
                  <a:pt x="7686216" y="0"/>
                </a:lnTo>
                <a:lnTo>
                  <a:pt x="7686216" y="3944624"/>
                </a:lnTo>
                <a:lnTo>
                  <a:pt x="0" y="3944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802" y="274724"/>
            <a:ext cx="11830390" cy="100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8"/>
              </a:lnSpc>
            </a:pPr>
            <a:r>
              <a:rPr lang="en-US" sz="344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Multiv</a:t>
            </a:r>
            <a:r>
              <a:rPr lang="en-US" b="true" sz="34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ariate analysis :- </a:t>
            </a:r>
          </a:p>
          <a:p>
            <a:pPr algn="l">
              <a:lnSpc>
                <a:spcPts val="3150"/>
              </a:lnSpc>
            </a:pPr>
            <a:r>
              <a:rPr lang="en-US" b="true" sz="22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- To analyse more than two variables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802" y="1490032"/>
            <a:ext cx="18809963" cy="126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b="true" sz="242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Correlation Matrix/Analysis :-</a:t>
            </a:r>
          </a:p>
          <a:p>
            <a:pPr algn="l" marL="1045741" indent="-348580" lvl="2">
              <a:lnSpc>
                <a:spcPts val="339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2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Correlation analysis is a technique used in EDA to understand the relationship between two or more numerical variables.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4664" y="3038243"/>
            <a:ext cx="1235964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##</a:t>
            </a: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Correlation Heatmap: - A heatmap makes this easier to understand: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4613" y="63066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952913">
            <a:off x="13346833" y="4902395"/>
            <a:ext cx="5803657" cy="6558986"/>
            <a:chOff x="0" y="0"/>
            <a:chExt cx="864384" cy="97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534863" y="848531"/>
            <a:ext cx="7327684" cy="3488970"/>
          </a:xfrm>
          <a:custGeom>
            <a:avLst/>
            <a:gdLst/>
            <a:ahLst/>
            <a:cxnLst/>
            <a:rect r="r" b="b" t="t" l="l"/>
            <a:pathLst>
              <a:path h="3488970" w="7327684">
                <a:moveTo>
                  <a:pt x="0" y="0"/>
                </a:moveTo>
                <a:lnTo>
                  <a:pt x="7327684" y="0"/>
                </a:lnTo>
                <a:lnTo>
                  <a:pt x="7327684" y="3488970"/>
                </a:lnTo>
                <a:lnTo>
                  <a:pt x="0" y="3488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22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7367" y="4546557"/>
            <a:ext cx="10096601" cy="5545485"/>
          </a:xfrm>
          <a:custGeom>
            <a:avLst/>
            <a:gdLst/>
            <a:ahLst/>
            <a:cxnLst/>
            <a:rect r="r" b="b" t="t" l="l"/>
            <a:pathLst>
              <a:path h="5545485" w="10096601">
                <a:moveTo>
                  <a:pt x="0" y="0"/>
                </a:moveTo>
                <a:lnTo>
                  <a:pt x="10096601" y="0"/>
                </a:lnTo>
                <a:lnTo>
                  <a:pt x="10096601" y="5545485"/>
                </a:lnTo>
                <a:lnTo>
                  <a:pt x="0" y="5545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71" r="0" b="-69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2956" y="563962"/>
            <a:ext cx="6393180" cy="109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 Sales:-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956" y="2102076"/>
            <a:ext cx="113344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recor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ded sales by month.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70158" y="5596616"/>
            <a:ext cx="6726307" cy="356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0"/>
              </a:lnSpc>
            </a:pPr>
            <a:r>
              <a:rPr lang="en-US" sz="412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---&gt; H</a:t>
            </a:r>
            <a:r>
              <a:rPr lang="en-US" b="true" sz="412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ighest monthly sales:</a:t>
            </a:r>
          </a:p>
          <a:p>
            <a:pPr algn="ctr">
              <a:lnSpc>
                <a:spcPts val="5770"/>
              </a:lnSpc>
            </a:pPr>
            <a:r>
              <a:rPr lang="en-US" b="true" sz="412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2023-06 with 7,230.</a:t>
            </a:r>
          </a:p>
          <a:p>
            <a:pPr algn="ctr">
              <a:lnSpc>
                <a:spcPts val="5770"/>
              </a:lnSpc>
            </a:pPr>
            <a:r>
              <a:rPr lang="en-US" b="true" sz="412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---&gt; Lowest monthly sales: </a:t>
            </a:r>
          </a:p>
          <a:p>
            <a:pPr algn="ctr">
              <a:lnSpc>
                <a:spcPts val="5770"/>
              </a:lnSpc>
            </a:pPr>
            <a:r>
              <a:rPr lang="en-US" b="true" sz="412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2023-02 with 6,344.</a:t>
            </a:r>
          </a:p>
          <a:p>
            <a:pPr algn="ctr">
              <a:lnSpc>
                <a:spcPts val="577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4613" y="63066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952913">
            <a:off x="13346833" y="4902395"/>
            <a:ext cx="5803657" cy="6558986"/>
            <a:chOff x="0" y="0"/>
            <a:chExt cx="864384" cy="97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384" cy="976881"/>
            </a:xfrm>
            <a:custGeom>
              <a:avLst/>
              <a:gdLst/>
              <a:ahLst/>
              <a:cxnLst/>
              <a:rect r="r" b="b" t="t" l="l"/>
              <a:pathLst>
                <a:path h="976881" w="864384">
                  <a:moveTo>
                    <a:pt x="432192" y="0"/>
                  </a:moveTo>
                  <a:lnTo>
                    <a:pt x="864384" y="203200"/>
                  </a:lnTo>
                  <a:lnTo>
                    <a:pt x="864384" y="773681"/>
                  </a:lnTo>
                  <a:lnTo>
                    <a:pt x="432192" y="976881"/>
                  </a:lnTo>
                  <a:lnTo>
                    <a:pt x="0" y="773681"/>
                  </a:lnTo>
                  <a:lnTo>
                    <a:pt x="0" y="203200"/>
                  </a:lnTo>
                  <a:lnTo>
                    <a:pt x="432192" y="0"/>
                  </a:lnTo>
                  <a:close/>
                </a:path>
              </a:pathLst>
            </a:custGeom>
            <a:solidFill>
              <a:srgbClr val="D9D9D9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864384" cy="735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153787" y="3183520"/>
            <a:ext cx="6501317" cy="2908083"/>
          </a:xfrm>
          <a:custGeom>
            <a:avLst/>
            <a:gdLst/>
            <a:ahLst/>
            <a:cxnLst/>
            <a:rect r="r" b="b" t="t" l="l"/>
            <a:pathLst>
              <a:path h="2908083" w="6501317">
                <a:moveTo>
                  <a:pt x="0" y="0"/>
                </a:moveTo>
                <a:lnTo>
                  <a:pt x="6501317" y="0"/>
                </a:lnTo>
                <a:lnTo>
                  <a:pt x="6501317" y="2908083"/>
                </a:lnTo>
                <a:lnTo>
                  <a:pt x="0" y="290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3111" y="1296181"/>
            <a:ext cx="10061638" cy="6584779"/>
          </a:xfrm>
          <a:custGeom>
            <a:avLst/>
            <a:gdLst/>
            <a:ahLst/>
            <a:cxnLst/>
            <a:rect r="r" b="b" t="t" l="l"/>
            <a:pathLst>
              <a:path h="6584779" w="10061638">
                <a:moveTo>
                  <a:pt x="0" y="0"/>
                </a:moveTo>
                <a:lnTo>
                  <a:pt x="10061637" y="0"/>
                </a:lnTo>
                <a:lnTo>
                  <a:pt x="10061637" y="6584780"/>
                </a:lnTo>
                <a:lnTo>
                  <a:pt x="0" y="6584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06" r="0" b="-150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0872" y="7983627"/>
            <a:ext cx="10679311" cy="250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4"/>
              </a:lnSpc>
            </a:pPr>
            <a:r>
              <a:rPr lang="en-US" sz="238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Cafe DataSet Insights:-</a:t>
            </a:r>
          </a:p>
          <a:p>
            <a:pPr algn="just" marL="514292" indent="-257146" lvl="1">
              <a:lnSpc>
                <a:spcPts val="3334"/>
              </a:lnSpc>
              <a:spcBef>
                <a:spcPct val="0"/>
              </a:spcBef>
              <a:buAutoNum type="arabicPeriod" startAt="1"/>
            </a:pPr>
            <a:r>
              <a:rPr lang="en-US" b="true" sz="23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Juice has the highest n</a:t>
            </a:r>
            <a:r>
              <a:rPr lang="en-US" b="true" sz="23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umber of transactions.</a:t>
            </a:r>
          </a:p>
          <a:p>
            <a:pPr algn="just" marL="514292" indent="-257146" lvl="1">
              <a:lnSpc>
                <a:spcPts val="3334"/>
              </a:lnSpc>
              <a:spcBef>
                <a:spcPct val="0"/>
              </a:spcBef>
              <a:buAutoNum type="arabicPeriod" startAt="1"/>
            </a:pPr>
            <a:r>
              <a:rPr lang="en-US" b="true" sz="23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Digital Wallet is the most frequently used payment method.</a:t>
            </a:r>
          </a:p>
          <a:p>
            <a:pPr algn="just" marL="514292" indent="-257146" lvl="1">
              <a:lnSpc>
                <a:spcPts val="3334"/>
              </a:lnSpc>
              <a:spcBef>
                <a:spcPct val="0"/>
              </a:spcBef>
              <a:buAutoNum type="arabicPeriod" startAt="1"/>
            </a:pPr>
            <a:r>
              <a:rPr lang="en-US" b="true" sz="23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 sales show an increasing/decreasing trend.</a:t>
            </a:r>
          </a:p>
          <a:p>
            <a:pPr algn="just" marL="514292" indent="-257146" lvl="1">
              <a:lnSpc>
                <a:spcPts val="3334"/>
              </a:lnSpc>
              <a:spcBef>
                <a:spcPct val="0"/>
              </a:spcBef>
              <a:buAutoNum type="arabicPeriod" startAt="1"/>
            </a:pPr>
            <a:r>
              <a:rPr lang="en-US" b="true" sz="23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Takeaway transactions are more common than In-store transactions.</a:t>
            </a:r>
          </a:p>
          <a:p>
            <a:pPr algn="just">
              <a:lnSpc>
                <a:spcPts val="333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0872" y="218602"/>
            <a:ext cx="1828800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ales by Item and Location:-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helps us understand which items generate the most sales and which location customers use most.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155538" y="8700374"/>
            <a:ext cx="2132462" cy="1442995"/>
            <a:chOff x="0" y="0"/>
            <a:chExt cx="2843283" cy="1923993"/>
          </a:xfrm>
        </p:grpSpPr>
        <p:sp>
          <p:nvSpPr>
            <p:cNvPr name="TextBox 11" id="11"/>
            <p:cNvSpPr txBox="true"/>
            <p:nvPr/>
          </p:nvSpPr>
          <p:spPr>
            <a:xfrm rot="-592460">
              <a:off x="63609" y="299222"/>
              <a:ext cx="2685144" cy="821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22"/>
                </a:lnSpc>
                <a:spcBef>
                  <a:spcPct val="0"/>
                </a:spcBef>
              </a:pPr>
              <a:r>
                <a:rPr lang="en-US" sz="4422">
                  <a:solidFill>
                    <a:srgbClr val="F6F3E4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Thank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-515361">
              <a:off x="353593" y="1013842"/>
              <a:ext cx="2448805" cy="731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80"/>
                </a:lnSpc>
                <a:spcBef>
                  <a:spcPct val="0"/>
                </a:spcBef>
              </a:pPr>
              <a:r>
                <a:rPr lang="en-US" sz="3980">
                  <a:solidFill>
                    <a:srgbClr val="F6F3E4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DAHWFrpZmrU</dc:identifier>
  <dcterms:modified xsi:type="dcterms:W3CDTF">2011-08-01T06:04:30Z</dcterms:modified>
  <cp:revision>1</cp:revision>
  <dc:title>CafeDataSet project(DA)</dc:title>
</cp:coreProperties>
</file>